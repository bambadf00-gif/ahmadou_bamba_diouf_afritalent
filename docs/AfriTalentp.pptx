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9" r:id="rId3"/>
    <p:sldId id="268" r:id="rId4"/>
    <p:sldId id="270" r:id="rId5"/>
    <p:sldId id="272" r:id="rId6"/>
    <p:sldId id="279" r:id="rId7"/>
    <p:sldId id="280" r:id="rId8"/>
    <p:sldId id="273" r:id="rId9"/>
    <p:sldId id="275" r:id="rId10"/>
    <p:sldId id="274" r:id="rId11"/>
    <p:sldId id="282" r:id="rId12"/>
    <p:sldId id="276" r:id="rId13"/>
    <p:sldId id="283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FC74BDE-6627-49B6-90F1-0334E723F64C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28DAF60-E56A-4648-8936-22D801672B6C}" type="datetime1">
              <a:rPr lang="fr-FR" smtClean="0"/>
              <a:t>28/06/2026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  <a:endParaRPr lang="en-US"/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641DF6C-ECED-4BD8-8025-73323DD5D35C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64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2897033-9A55-4DAC-991D-1FF1921C78B7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74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69A0D1A-B1A6-4A33-B3AE-513EF3B4A7E7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777568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E4EF44C-5F50-4A80-A957-57B3338337C0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61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2D0F46D-59FD-4484-924E-E79DD516B5ED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13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69A0D1A-B1A6-4A33-B3AE-513EF3B4A7E7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169212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CEC98BE-FCE2-445F-8146-3A7F8CC3881D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740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D0953DD-A6BD-427D-B7A8-BDE378B2E678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63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47E77B56-6788-4F40-A65E-12AFEB3AC095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72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5B03D9-FC89-4784-BD60-336471BA7724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596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0216CB3-B929-446C-876F-83C9B86D9FDE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05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69A0D1A-B1A6-4A33-B3AE-513EF3B4A7E7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48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7653" y="2220686"/>
            <a:ext cx="12069568" cy="1208314"/>
          </a:xfrm>
        </p:spPr>
        <p:txBody>
          <a:bodyPr rtlCol="0">
            <a:noAutofit/>
          </a:bodyPr>
          <a:lstStyle/>
          <a:p>
            <a:r>
              <a:rPr lang="fr-SN" sz="9600" dirty="0" err="1"/>
              <a:t>AfriTalent</a:t>
            </a:r>
            <a:endParaRPr lang="fr" sz="9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0588" y="3816469"/>
            <a:ext cx="9916856" cy="1508760"/>
          </a:xfrm>
        </p:spPr>
        <p:txBody>
          <a:bodyPr rtlCol="0">
            <a:normAutofit/>
          </a:bodyPr>
          <a:lstStyle/>
          <a:p>
            <a:r>
              <a:rPr lang="fr-SN" dirty="0"/>
              <a:t>Nom : Bamba </a:t>
            </a:r>
            <a:r>
              <a:rPr lang="fr-SN" dirty="0" err="1"/>
              <a:t>diouf</a:t>
            </a:r>
            <a:br>
              <a:rPr lang="fr-SN" dirty="0"/>
            </a:br>
            <a:r>
              <a:rPr lang="fr-SN" dirty="0"/>
              <a:t>Classe : L1 IAGE nr</a:t>
            </a:r>
            <a:br>
              <a:rPr lang="fr-SN" dirty="0"/>
            </a:b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ISI • 2026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08369896-D89B-4B23-144C-00A2AE846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51580" y="961355"/>
            <a:ext cx="96032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SN" sz="4000" b="1" dirty="0"/>
              <a:t>SOMMAIRE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1A7734-B1C9-D72E-77E1-34B9E3A6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1255F31-5DB3-4925-BA87-822F5B17A2F1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0A106B1-468A-B29A-28D1-F2A74EADEB2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451580" y="1946744"/>
            <a:ext cx="5788448" cy="3820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1600" dirty="0"/>
              <a:t>Contexte du projet</a:t>
            </a:r>
          </a:p>
          <a:p>
            <a:r>
              <a:rPr lang="fr-FR" sz="1600" dirty="0"/>
              <a:t>Choix de design</a:t>
            </a:r>
          </a:p>
          <a:p>
            <a:r>
              <a:rPr lang="fr-FR" sz="1600" dirty="0"/>
              <a:t>Architecture du site</a:t>
            </a:r>
          </a:p>
          <a:p>
            <a:r>
              <a:rPr lang="fr-FR" sz="1600" dirty="0"/>
              <a:t>Fonctionnalités techniques</a:t>
            </a:r>
          </a:p>
          <a:p>
            <a:r>
              <a:rPr lang="fr-FR" sz="1600" dirty="0"/>
              <a:t>GitHub et déploiement</a:t>
            </a:r>
          </a:p>
          <a:p>
            <a:r>
              <a:rPr lang="fr-FR" sz="1600" dirty="0"/>
              <a:t>Difficultés rencontrées</a:t>
            </a:r>
          </a:p>
          <a:p>
            <a:r>
              <a:rPr lang="fr-FR" sz="1600" dirty="0"/>
              <a:t>Ressources utilisées</a:t>
            </a:r>
          </a:p>
          <a:p>
            <a:r>
              <a:rPr lang="fr-FR" sz="1600" dirty="0"/>
              <a:t>Démonstration en live</a:t>
            </a:r>
          </a:p>
          <a:p>
            <a:r>
              <a:rPr lang="fr-SN" sz="1600" dirty="0"/>
              <a:t>Conclusion et perspectives d'amélioration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45008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263084-536C-047E-82E9-6E2F820CD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1158388"/>
            <a:ext cx="9603275" cy="1049235"/>
          </a:xfrm>
        </p:spPr>
        <p:txBody>
          <a:bodyPr/>
          <a:lstStyle/>
          <a:p>
            <a:r>
              <a:rPr lang="fr-SN" dirty="0"/>
              <a:t> Présentation du projet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002EBA-2915-C337-6144-71941D42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AEC910-4AAA-42A1-A49C-7DDC64BC53C6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A21B24-076B-0B6A-2236-8775E9E2B766}"/>
              </a:ext>
            </a:extLst>
          </p:cNvPr>
          <p:cNvSpPr txBox="1"/>
          <p:nvPr/>
        </p:nvSpPr>
        <p:spPr>
          <a:xfrm>
            <a:off x="1381938" y="2037806"/>
            <a:ext cx="99892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Contexte :</a:t>
            </a:r>
            <a:r>
              <a:rPr lang="fr-FR" dirty="0"/>
              <a:t> Le marché du freelance tech connaît une croissance explosive en Afrique. De plus en plus de développeurs, designers et créateurs de contenu cherchent une plateforme fiable pour proposer leurs services.</a:t>
            </a:r>
          </a:p>
          <a:p>
            <a:endParaRPr lang="fr-FR" dirty="0"/>
          </a:p>
          <a:p>
            <a:r>
              <a:rPr lang="fr-FR" b="1" dirty="0"/>
              <a:t>Objectif :</a:t>
            </a:r>
            <a:r>
              <a:rPr lang="fr-FR" dirty="0"/>
              <a:t> Concevoir un site vitrine complet pour </a:t>
            </a:r>
            <a:r>
              <a:rPr lang="fr-FR" dirty="0" err="1"/>
              <a:t>AfriTalent</a:t>
            </a:r>
            <a:r>
              <a:rPr lang="fr-FR" dirty="0"/>
              <a:t>, une plateforme fictive qui présente les fonctionnalités, les tarifs et les profils de freelances, tout en convaincant les visiteurs de s'inscrire.</a:t>
            </a:r>
          </a:p>
          <a:p>
            <a:endParaRPr lang="fr-FR" dirty="0"/>
          </a:p>
          <a:p>
            <a:r>
              <a:rPr lang="fr-FR" b="1" dirty="0"/>
              <a:t>Public cible :</a:t>
            </a:r>
            <a:r>
              <a:rPr lang="fr-FR" dirty="0"/>
              <a:t> Freelances tech (développeurs, designers, créateurs de contenu) ET entreprises à la recherche de talents.</a:t>
            </a:r>
          </a:p>
        </p:txBody>
      </p:sp>
    </p:spTree>
    <p:extLst>
      <p:ext uri="{BB962C8B-B14F-4D97-AF65-F5344CB8AC3E}">
        <p14:creationId xmlns:p14="http://schemas.microsoft.com/office/powerpoint/2010/main" val="251033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0CBFEC-61C2-7241-86B5-92F706C73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118027"/>
            <a:ext cx="9603275" cy="1049235"/>
          </a:xfrm>
        </p:spPr>
        <p:txBody>
          <a:bodyPr/>
          <a:lstStyle/>
          <a:p>
            <a:r>
              <a:rPr lang="fr-SN" dirty="0"/>
              <a:t>Choix de design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36E75B-096D-33E9-5A1D-198C3F99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AEC910-4AAA-42A1-A49C-7DDC64BC53C6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947C1B-1BE2-D6C3-864A-A6412898CA4F}"/>
              </a:ext>
            </a:extLst>
          </p:cNvPr>
          <p:cNvSpPr txBox="1"/>
          <p:nvPr/>
        </p:nvSpPr>
        <p:spPr>
          <a:xfrm>
            <a:off x="1451578" y="2091512"/>
            <a:ext cx="117685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Style inspiré des tendances web 2026.</a:t>
            </a:r>
          </a:p>
          <a:p>
            <a:r>
              <a:rPr lang="fr-FR" dirty="0"/>
              <a:t>Mise en page épurée avec Bento </a:t>
            </a:r>
            <a:r>
              <a:rPr lang="fr-FR" dirty="0" err="1"/>
              <a:t>Grid</a:t>
            </a:r>
            <a:r>
              <a:rPr lang="fr-FR" dirty="0"/>
              <a:t>.</a:t>
            </a:r>
          </a:p>
          <a:p>
            <a:r>
              <a:rPr lang="fr-FR" dirty="0"/>
              <a:t>Hiérarchie visuelle claire.</a:t>
            </a:r>
          </a:p>
          <a:p>
            <a:r>
              <a:rPr lang="fr-FR" dirty="0"/>
              <a:t>Design pensé pour rester lisible sur mobile, tablette et desktop.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4F2C19-64DB-8C6B-6AB3-57ADDA9D9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364" y="3619203"/>
            <a:ext cx="983633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#7c3aed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Primary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— violet vif, couleur signature d'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AfriTalent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#a78bfa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Primary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Dark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— variante claire pour le mode sombre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#ede9fe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Bg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Span Out) — violet très clair pour les sections de mise en valeur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#ffffff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Bg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— fond principal épuré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#0a0a0a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Text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— noir profond pour un contraste fort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132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ED63-408C-B8B7-16CD-2227D3592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9943DE-D478-21FA-5008-C6EFE2065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791" y="1206453"/>
            <a:ext cx="12715563" cy="988332"/>
          </a:xfrm>
        </p:spPr>
        <p:txBody>
          <a:bodyPr/>
          <a:lstStyle/>
          <a:p>
            <a:r>
              <a:rPr lang="fr-SN" dirty="0"/>
              <a:t>Architecture du projet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4FAB90D-87F9-A053-4782-839CD5AC1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AEC910-4AAA-42A1-A49C-7DDC64BC53C6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9DEC5D0-547D-20C4-18F1-7404A0CA20DA}"/>
              </a:ext>
            </a:extLst>
          </p:cNvPr>
          <p:cNvSpPr txBox="1"/>
          <p:nvPr/>
        </p:nvSpPr>
        <p:spPr>
          <a:xfrm>
            <a:off x="1385791" y="2057400"/>
            <a:ext cx="117685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dirty="0"/>
              <a:t>DIOUF-Ahmadou-Bamba-</a:t>
            </a:r>
            <a:r>
              <a:rPr lang="fr-SN" dirty="0" err="1"/>
              <a:t>AfriTalent</a:t>
            </a:r>
            <a:r>
              <a:rPr lang="fr-SN" dirty="0"/>
              <a:t>/</a:t>
            </a:r>
          </a:p>
          <a:p>
            <a:r>
              <a:rPr lang="fr-SN" dirty="0"/>
              <a:t>├── index.html</a:t>
            </a:r>
          </a:p>
          <a:p>
            <a:r>
              <a:rPr lang="fr-SN" dirty="0"/>
              <a:t>├── freelances.html</a:t>
            </a:r>
          </a:p>
          <a:p>
            <a:r>
              <a:rPr lang="fr-SN" dirty="0"/>
              <a:t>├── tarifs.html</a:t>
            </a:r>
          </a:p>
          <a:p>
            <a:r>
              <a:rPr lang="fr-SN" dirty="0"/>
              <a:t>├── about.html</a:t>
            </a:r>
          </a:p>
          <a:p>
            <a:r>
              <a:rPr lang="fr-SN" dirty="0"/>
              <a:t>├── contact.html</a:t>
            </a:r>
          </a:p>
          <a:p>
            <a:r>
              <a:rPr lang="fr-SN" dirty="0"/>
              <a:t>├── </a:t>
            </a:r>
            <a:r>
              <a:rPr lang="fr-SN" dirty="0" err="1"/>
              <a:t>css</a:t>
            </a:r>
            <a:r>
              <a:rPr lang="fr-SN" dirty="0"/>
              <a:t>/style.css</a:t>
            </a:r>
          </a:p>
          <a:p>
            <a:r>
              <a:rPr lang="fr-SN" dirty="0"/>
              <a:t>├── </a:t>
            </a:r>
            <a:r>
              <a:rPr lang="fr-SN" dirty="0" err="1"/>
              <a:t>js</a:t>
            </a:r>
            <a:r>
              <a:rPr lang="fr-SN" dirty="0"/>
              <a:t>/main.js</a:t>
            </a:r>
          </a:p>
          <a:p>
            <a:r>
              <a:rPr lang="fr-SN" dirty="0"/>
              <a:t>├── images/</a:t>
            </a:r>
          </a:p>
          <a:p>
            <a:r>
              <a:rPr lang="fr-SN" dirty="0"/>
              <a:t>├── docs/NOM_Prenom_Presentation.pptx</a:t>
            </a:r>
          </a:p>
          <a:p>
            <a:r>
              <a:rPr lang="fr-SN" dirty="0"/>
              <a:t>├── README.md</a:t>
            </a:r>
          </a:p>
          <a:p>
            <a:r>
              <a:rPr lang="fr-SN" dirty="0"/>
              <a:t>└── .</a:t>
            </a:r>
            <a:r>
              <a:rPr lang="fr-SN" dirty="0" err="1"/>
              <a:t>gitignore</a:t>
            </a: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584774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6EC351-A473-1E35-52EE-89919682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471" y="1073689"/>
            <a:ext cx="9607661" cy="1056319"/>
          </a:xfrm>
        </p:spPr>
        <p:txBody>
          <a:bodyPr/>
          <a:lstStyle/>
          <a:p>
            <a:r>
              <a:rPr lang="fr-SN" dirty="0"/>
              <a:t>Aperçu des pages</a:t>
            </a:r>
            <a:br>
              <a:rPr lang="fr-SN" dirty="0"/>
            </a:br>
            <a:endParaRPr lang="fr-SN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E7FD2B-DDA9-1B55-C257-17089C534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2156588"/>
            <a:ext cx="5194769" cy="372291"/>
          </a:xfrm>
        </p:spPr>
        <p:txBody>
          <a:bodyPr>
            <a:normAutofit fontScale="40000" lnSpcReduction="20000"/>
          </a:bodyPr>
          <a:lstStyle/>
          <a:p>
            <a:r>
              <a:rPr lang="fr-FR" dirty="0"/>
              <a:t>Page d’</a:t>
            </a:r>
            <a:r>
              <a:rPr lang="fr-FR" dirty="0" err="1"/>
              <a:t>acceuil</a:t>
            </a:r>
            <a:r>
              <a:rPr lang="fr-FR" dirty="0"/>
              <a:t> </a:t>
            </a:r>
            <a:endParaRPr lang="fr-SN" dirty="0"/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576F6D1D-62CB-6886-B964-A43A541181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191" y="2667406"/>
            <a:ext cx="2890598" cy="1806623"/>
          </a:xfr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B690AC3-7A79-C344-02DD-9494788B1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56753" y="2395893"/>
            <a:ext cx="5194770" cy="202250"/>
          </a:xfrm>
        </p:spPr>
        <p:txBody>
          <a:bodyPr>
            <a:normAutofit fontScale="40000" lnSpcReduction="20000"/>
          </a:bodyPr>
          <a:lstStyle/>
          <a:p>
            <a:r>
              <a:rPr lang="fr-FR" dirty="0"/>
              <a:t>Page </a:t>
            </a:r>
            <a:r>
              <a:rPr lang="fr-FR" dirty="0" err="1"/>
              <a:t>freelence</a:t>
            </a:r>
            <a:r>
              <a:rPr lang="fr-FR" dirty="0"/>
              <a:t> </a:t>
            </a:r>
            <a:endParaRPr lang="fr-SN" dirty="0"/>
          </a:p>
        </p:txBody>
      </p:sp>
      <p:pic>
        <p:nvPicPr>
          <p:cNvPr id="15" name="Espace réservé du contenu 14">
            <a:extLst>
              <a:ext uri="{FF2B5EF4-FFF2-40B4-BE49-F238E27FC236}">
                <a16:creationId xmlns:a16="http://schemas.microsoft.com/office/drawing/2014/main" id="{D3631053-8EDB-5AAA-C4AE-4AA9988217C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806" y="2667406"/>
            <a:ext cx="2890593" cy="1806621"/>
          </a:xfrm>
        </p:spPr>
      </p:pic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FDE136-2876-6F46-95B2-B05CA8D43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2D0F46D-59FD-4484-924E-E79DD516B5ED}" type="datetime1">
              <a:rPr lang="fr-FR" smtClean="0"/>
              <a:t>28/06/2026</a:t>
            </a:fld>
            <a:endParaRPr lang="en-US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930EA860-DED9-63E1-0653-1878EED370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140" y="2667407"/>
            <a:ext cx="2890593" cy="1806621"/>
          </a:xfrm>
          <a:prstGeom prst="rect">
            <a:avLst/>
          </a:prstGeom>
        </p:spPr>
      </p:pic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48DE6FBB-99FE-79E8-3AE7-8AF1583D8C3B}"/>
              </a:ext>
            </a:extLst>
          </p:cNvPr>
          <p:cNvSpPr txBox="1">
            <a:spLocks/>
          </p:cNvSpPr>
          <p:nvPr/>
        </p:nvSpPr>
        <p:spPr>
          <a:xfrm>
            <a:off x="8243140" y="2342733"/>
            <a:ext cx="5194770" cy="2022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200" b="0" kern="1200" cap="all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Tarifs</a:t>
            </a:r>
          </a:p>
        </p:txBody>
      </p:sp>
    </p:spTree>
    <p:extLst>
      <p:ext uri="{BB962C8B-B14F-4D97-AF65-F5344CB8AC3E}">
        <p14:creationId xmlns:p14="http://schemas.microsoft.com/office/powerpoint/2010/main" val="1767944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60030-9E61-B330-DF39-BC726CCE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97F1BD-3CFE-06F0-74C0-85B7FEEB0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SN" dirty="0"/>
              <a:t>Aperçu des pages</a:t>
            </a:r>
            <a:br>
              <a:rPr lang="fr-SN" dirty="0"/>
            </a:br>
            <a:endParaRPr lang="fr-SN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93A2BE-DE4E-C491-3D00-F7955D88C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191" y="2249424"/>
            <a:ext cx="5194769" cy="372291"/>
          </a:xfrm>
        </p:spPr>
        <p:txBody>
          <a:bodyPr>
            <a:normAutofit fontScale="40000" lnSpcReduction="20000"/>
          </a:bodyPr>
          <a:lstStyle/>
          <a:p>
            <a:r>
              <a:rPr lang="fr-FR" dirty="0"/>
              <a:t>Page about</a:t>
            </a:r>
            <a:endParaRPr lang="fr-SN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7A20EDA-A1ED-2B68-B760-66EC026DE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40615" y="2047174"/>
            <a:ext cx="5194770" cy="202250"/>
          </a:xfrm>
        </p:spPr>
        <p:txBody>
          <a:bodyPr>
            <a:normAutofit fontScale="40000" lnSpcReduction="20000"/>
          </a:bodyPr>
          <a:lstStyle/>
          <a:p>
            <a:r>
              <a:rPr lang="fr-FR" dirty="0"/>
              <a:t>Page contact</a:t>
            </a:r>
            <a:endParaRPr lang="fr-SN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7AB2EC3-0C49-D4D1-95A6-2A89C3AC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2D0F46D-59FD-4484-924E-E79DD516B5ED}" type="datetime1">
              <a:rPr lang="fr-FR" smtClean="0"/>
              <a:t>28/06/2026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20F1FDB-411C-44A1-B06D-8691D6578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09" y="2786307"/>
            <a:ext cx="2909361" cy="1818350"/>
          </a:xfrm>
          <a:prstGeom prst="rect">
            <a:avLst/>
          </a:prstGeom>
        </p:spPr>
      </p:pic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E540CD53-F4CF-A10D-01A5-6793090BDF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995" y="2788756"/>
            <a:ext cx="2905442" cy="1815901"/>
          </a:xfrm>
        </p:spPr>
      </p:pic>
      <p:pic>
        <p:nvPicPr>
          <p:cNvPr id="18" name="Espace réservé du contenu 17">
            <a:extLst>
              <a:ext uri="{FF2B5EF4-FFF2-40B4-BE49-F238E27FC236}">
                <a16:creationId xmlns:a16="http://schemas.microsoft.com/office/drawing/2014/main" id="{AFC071CD-230D-A1D2-8BEF-836A6B62344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615" y="2389152"/>
            <a:ext cx="2585369" cy="3025691"/>
          </a:xfrm>
        </p:spPr>
      </p:pic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837E5800-837C-C379-7BFE-0BED0A72EC46}"/>
              </a:ext>
            </a:extLst>
          </p:cNvPr>
          <p:cNvSpPr txBox="1">
            <a:spLocks/>
          </p:cNvSpPr>
          <p:nvPr/>
        </p:nvSpPr>
        <p:spPr>
          <a:xfrm>
            <a:off x="8457467" y="2435569"/>
            <a:ext cx="5194770" cy="20225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200" b="0" kern="1200" cap="all" baseline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b="1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1600" b="1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Page blog</a:t>
            </a:r>
          </a:p>
        </p:txBody>
      </p:sp>
    </p:spTree>
    <p:extLst>
      <p:ext uri="{BB962C8B-B14F-4D97-AF65-F5344CB8AC3E}">
        <p14:creationId xmlns:p14="http://schemas.microsoft.com/office/powerpoint/2010/main" val="2378044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E51DD-4CE3-7F2D-BEE7-9295446FF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969467"/>
            <a:ext cx="11390363" cy="1049235"/>
          </a:xfrm>
        </p:spPr>
        <p:txBody>
          <a:bodyPr/>
          <a:lstStyle/>
          <a:p>
            <a:r>
              <a:rPr lang="fr-FR" dirty="0"/>
              <a:t>Points techniques : Bootstrap  &amp; CSS avancé</a:t>
            </a:r>
            <a:endParaRPr lang="fr-SN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471DCC9-1E14-9CF4-1941-D39B762E0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AEC910-4AAA-42A1-A49C-7DDC64BC53C6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60E3A5C-3CEC-EB28-11B6-180884632DA9}"/>
              </a:ext>
            </a:extLst>
          </p:cNvPr>
          <p:cNvSpPr txBox="1"/>
          <p:nvPr/>
        </p:nvSpPr>
        <p:spPr>
          <a:xfrm>
            <a:off x="1516996" y="2018702"/>
            <a:ext cx="60970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Navbar</a:t>
            </a:r>
            <a:r>
              <a:rPr lang="fr-FR" dirty="0"/>
              <a:t> responsive.</a:t>
            </a:r>
          </a:p>
          <a:p>
            <a:r>
              <a:rPr lang="fr-FR" dirty="0"/>
              <a:t>Cartes de profils et de services.</a:t>
            </a:r>
          </a:p>
          <a:p>
            <a:r>
              <a:rPr lang="fr-FR" dirty="0" err="1"/>
              <a:t>Carousel</a:t>
            </a:r>
            <a:r>
              <a:rPr lang="fr-FR" dirty="0"/>
              <a:t> pour les témoignages.</a:t>
            </a:r>
          </a:p>
          <a:p>
            <a:r>
              <a:rPr lang="fr-FR" dirty="0" err="1"/>
              <a:t>Accordion</a:t>
            </a:r>
            <a:r>
              <a:rPr lang="fr-FR" dirty="0"/>
              <a:t> pour la FAQ.</a:t>
            </a:r>
          </a:p>
          <a:p>
            <a:r>
              <a:rPr lang="fr-FR" dirty="0"/>
              <a:t>Grille responsive pour les sections principales.</a:t>
            </a:r>
          </a:p>
          <a:p>
            <a:r>
              <a:rPr lang="fr-FR" dirty="0" err="1"/>
              <a:t>Dark</a:t>
            </a:r>
            <a:r>
              <a:rPr lang="fr-FR" dirty="0"/>
              <a:t> mode </a:t>
            </a:r>
            <a:r>
              <a:rPr lang="fr-FR" dirty="0" err="1"/>
              <a:t>localStorage</a:t>
            </a:r>
            <a:endParaRPr lang="fr-FR" dirty="0"/>
          </a:p>
          <a:p>
            <a:endParaRPr lang="fr-FR" b="1" dirty="0"/>
          </a:p>
          <a:p>
            <a:r>
              <a:rPr lang="fr-FR" b="1" dirty="0"/>
              <a:t>CSS avancé :</a:t>
            </a:r>
          </a:p>
          <a:p>
            <a:r>
              <a:rPr lang="fr-FR" dirty="0"/>
              <a:t>Bento </a:t>
            </a:r>
            <a:r>
              <a:rPr lang="fr-FR" dirty="0" err="1"/>
              <a:t>Grid</a:t>
            </a:r>
            <a:r>
              <a:rPr lang="fr-FR" dirty="0"/>
              <a:t> pour la section "Comment ça marche" (CSS </a:t>
            </a:r>
            <a:r>
              <a:rPr lang="fr-FR" dirty="0" err="1"/>
              <a:t>Grid</a:t>
            </a:r>
            <a:r>
              <a:rPr lang="fr-FR" dirty="0"/>
              <a:t> avec cartes de tailles variées)</a:t>
            </a:r>
          </a:p>
          <a:p>
            <a:r>
              <a:rPr lang="fr-FR" dirty="0"/>
              <a:t>6+ variables CSS dans :root (couleurs, polices)</a:t>
            </a:r>
          </a:p>
          <a:p>
            <a:r>
              <a:rPr lang="fr-FR" dirty="0"/>
              <a:t>Animations fade-in au scroll, effets </a:t>
            </a:r>
            <a:r>
              <a:rPr lang="fr-FR" dirty="0" err="1"/>
              <a:t>hover</a:t>
            </a:r>
            <a:r>
              <a:rPr lang="fr-FR" dirty="0"/>
              <a:t> sur les catégories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628950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36ED-6209-E1B1-31CB-115724CFE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FADF94-AE02-8018-9A94-25B0D88C8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050" y="1144153"/>
            <a:ext cx="9603275" cy="1049235"/>
          </a:xfrm>
        </p:spPr>
        <p:txBody>
          <a:bodyPr>
            <a:normAutofit/>
          </a:bodyPr>
          <a:lstStyle/>
          <a:p>
            <a:r>
              <a:rPr lang="fr-SN" sz="4400" dirty="0"/>
              <a:t>GitHub et déploiement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19F1338-EAA3-02AE-3591-80FEB4C91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AEC910-4AAA-42A1-A49C-7DDC64BC53C6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33C2565-E1B1-7C36-5600-41B6CF952567}"/>
              </a:ext>
            </a:extLst>
          </p:cNvPr>
          <p:cNvSpPr txBox="1"/>
          <p:nvPr/>
        </p:nvSpPr>
        <p:spPr>
          <a:xfrm>
            <a:off x="1457050" y="2108479"/>
            <a:ext cx="1117854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10 commits </a:t>
            </a:r>
            <a:r>
              <a:rPr lang="en-US" sz="2000" dirty="0" err="1"/>
              <a:t>stuctures</a:t>
            </a:r>
            <a:r>
              <a:rPr lang="en-US" sz="2000" dirty="0"/>
              <a:t> et </a:t>
            </a:r>
            <a:r>
              <a:rPr lang="en-US" sz="2000" dirty="0" err="1"/>
              <a:t>documentes</a:t>
            </a:r>
            <a:endParaRPr lang="en-US" sz="2000" dirty="0"/>
          </a:p>
          <a:p>
            <a:r>
              <a:rPr lang="en-US" sz="2000" dirty="0" err="1"/>
              <a:t>Historique</a:t>
            </a:r>
            <a:r>
              <a:rPr lang="en-US" sz="2000" dirty="0"/>
              <a:t> Git </a:t>
            </a:r>
            <a:r>
              <a:rPr lang="en-US" sz="2000" dirty="0" err="1"/>
              <a:t>suivant</a:t>
            </a:r>
            <a:r>
              <a:rPr lang="en-US" sz="2000" dirty="0"/>
              <a:t> la progression du </a:t>
            </a:r>
            <a:r>
              <a:rPr lang="en-US" sz="2000" dirty="0" err="1"/>
              <a:t>projet</a:t>
            </a:r>
            <a:endParaRPr lang="en-US" sz="2000" dirty="0"/>
          </a:p>
          <a:p>
            <a:r>
              <a:rPr lang="en-US" sz="2000" dirty="0" err="1"/>
              <a:t>Deploiement</a:t>
            </a:r>
            <a:r>
              <a:rPr lang="en-US" sz="2000" dirty="0"/>
              <a:t> via </a:t>
            </a:r>
            <a:r>
              <a:rPr lang="en-US" sz="2000" dirty="0" err="1"/>
              <a:t>Github</a:t>
            </a:r>
            <a:r>
              <a:rPr lang="en-US" sz="2000" dirty="0"/>
              <a:t> pages</a:t>
            </a:r>
          </a:p>
          <a:p>
            <a:endParaRPr lang="en-US" sz="2000" dirty="0"/>
          </a:p>
          <a:p>
            <a:r>
              <a:rPr lang="en-US" sz="2000" dirty="0"/>
              <a:t>Lien du site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ligne</a:t>
            </a:r>
            <a:r>
              <a:rPr lang="en-US" sz="2000" dirty="0"/>
              <a:t> : </a:t>
            </a:r>
            <a:r>
              <a:rPr lang="fr-FR" sz="2000" dirty="0"/>
              <a:t>https://bambadf00-gif.github.io/Ahmadou_Bamba_Diouf_Afritalent/</a:t>
            </a:r>
          </a:p>
        </p:txBody>
      </p:sp>
    </p:spTree>
    <p:extLst>
      <p:ext uri="{BB962C8B-B14F-4D97-AF65-F5344CB8AC3E}">
        <p14:creationId xmlns:p14="http://schemas.microsoft.com/office/powerpoint/2010/main" val="3967694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0623B-B413-D5F9-9A55-0D1FFA20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FDA740-F989-F7DE-46E5-0FE07B0D2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75998"/>
            <a:ext cx="9603275" cy="1049235"/>
          </a:xfrm>
        </p:spPr>
        <p:txBody>
          <a:bodyPr/>
          <a:lstStyle/>
          <a:p>
            <a:r>
              <a:rPr lang="fr-SN" dirty="0"/>
              <a:t>Difficultés rencontrées et solutions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4830F-01A0-B3D5-A4F0-D57AAABEA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AEC910-4AAA-42A1-A49C-7DDC64BC53C6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0F0D3A-9C75-5F7F-9DB7-FD2A77AC89EA}"/>
              </a:ext>
            </a:extLst>
          </p:cNvPr>
          <p:cNvSpPr txBox="1"/>
          <p:nvPr/>
        </p:nvSpPr>
        <p:spPr>
          <a:xfrm>
            <a:off x="1451579" y="2181988"/>
            <a:ext cx="60970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Difficulté 1 — Le thème (</a:t>
            </a:r>
            <a:r>
              <a:rPr lang="fr-FR" b="1" dirty="0" err="1"/>
              <a:t>dark</a:t>
            </a:r>
            <a:r>
              <a:rPr lang="fr-FR" b="1" dirty="0"/>
              <a:t> mode) ne se sauvegardait pas</a:t>
            </a:r>
            <a:endParaRPr lang="fr-FR" dirty="0"/>
          </a:p>
          <a:p>
            <a:r>
              <a:rPr lang="fr-FR" dirty="0"/>
              <a:t>Au départ, le mode sombre s'activait visuellement au clic, mais redevenait clair à chaque changement de page : rien n'était mémorisé.</a:t>
            </a:r>
          </a:p>
          <a:p>
            <a:r>
              <a:rPr lang="fr-FR" b="1" dirty="0"/>
              <a:t>Solution :</a:t>
            </a:r>
            <a:r>
              <a:rPr lang="fr-FR" dirty="0"/>
              <a:t> à chaque clic sur le </a:t>
            </a:r>
            <a:r>
              <a:rPr lang="fr-FR" dirty="0" err="1"/>
              <a:t>toggle</a:t>
            </a:r>
            <a:r>
              <a:rPr lang="fr-FR" dirty="0"/>
              <a:t>, le thème choisi est enregistré avec </a:t>
            </a:r>
            <a:r>
              <a:rPr lang="fr-FR" dirty="0" err="1"/>
              <a:t>localStorage.setItem</a:t>
            </a:r>
            <a:r>
              <a:rPr lang="fr-FR" dirty="0"/>
              <a:t>(). Au chargement de chaque page, cette valeur est relue avec </a:t>
            </a:r>
            <a:r>
              <a:rPr lang="fr-FR" dirty="0" err="1"/>
              <a:t>localStorage.getItem</a:t>
            </a:r>
            <a:r>
              <a:rPr lang="fr-FR" dirty="0"/>
              <a:t>() pour réappliquer automatiquement le bon thème avant l'affichage.</a:t>
            </a:r>
          </a:p>
        </p:txBody>
      </p:sp>
    </p:spTree>
    <p:extLst>
      <p:ext uri="{BB962C8B-B14F-4D97-AF65-F5344CB8AC3E}">
        <p14:creationId xmlns:p14="http://schemas.microsoft.com/office/powerpoint/2010/main" val="3709696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5926209-CF31-D620-406F-B8151FB3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CEC98BE-FCE2-445F-8146-3A7F8CC3881D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86174EE-FFC7-D902-75C7-7E8D76362B59}"/>
              </a:ext>
            </a:extLst>
          </p:cNvPr>
          <p:cNvSpPr txBox="1"/>
          <p:nvPr/>
        </p:nvSpPr>
        <p:spPr>
          <a:xfrm>
            <a:off x="1952897" y="790303"/>
            <a:ext cx="71932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Difficulté 2 — Les compteurs animés étaient trop lents</a:t>
            </a:r>
            <a:endParaRPr lang="fr-FR" dirty="0"/>
          </a:p>
          <a:p>
            <a:pPr>
              <a:buNone/>
            </a:pPr>
            <a:r>
              <a:rPr lang="fr-FR" dirty="0"/>
              <a:t>Les statistiques (ex : « +12 000 missions ») s'incrémentaient une par une, rendant l'animation interminable pour les grands chiffres.</a:t>
            </a:r>
          </a:p>
          <a:p>
            <a:pPr>
              <a:buNone/>
            </a:pPr>
            <a:r>
              <a:rPr lang="fr-FR" b="1" dirty="0"/>
              <a:t>Solution :</a:t>
            </a:r>
            <a:r>
              <a:rPr lang="fr-FR" dirty="0"/>
              <a:t> calcul d'un incrément proportionnel à la valeur cible et à la durée totale souhaitée, pour que tous les compteurs — qu'ils aillent jusqu'à 50 ou jusqu'à 12 000 — terminent en même temps, avec un rythme fluide.</a:t>
            </a:r>
          </a:p>
        </p:txBody>
      </p:sp>
    </p:spTree>
    <p:extLst>
      <p:ext uri="{BB962C8B-B14F-4D97-AF65-F5344CB8AC3E}">
        <p14:creationId xmlns:p14="http://schemas.microsoft.com/office/powerpoint/2010/main" val="4118819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3A930-C1DA-2520-507F-D1211BBEC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D4F8BF-BFCD-45A1-DCA0-C30A63C6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052713"/>
            <a:ext cx="9603275" cy="1049235"/>
          </a:xfrm>
        </p:spPr>
        <p:txBody>
          <a:bodyPr/>
          <a:lstStyle/>
          <a:p>
            <a:r>
              <a:rPr lang="fr-SN" dirty="0"/>
              <a:t>Ressources utilisées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0942043-8293-B03A-B2CB-213B43A09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AEC910-4AAA-42A1-A49C-7DDC64BC53C6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AD84EED-CC0F-702C-90AE-D4B005EBC4FA}"/>
              </a:ext>
            </a:extLst>
          </p:cNvPr>
          <p:cNvSpPr txBox="1"/>
          <p:nvPr/>
        </p:nvSpPr>
        <p:spPr>
          <a:xfrm>
            <a:off x="1451578" y="2158613"/>
            <a:ext cx="60970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SN" dirty="0"/>
              <a:t>MDN Web Docs</a:t>
            </a:r>
          </a:p>
          <a:p>
            <a:r>
              <a:rPr lang="fr-SN" dirty="0"/>
              <a:t>Bootstrap 5 Documentation</a:t>
            </a:r>
          </a:p>
          <a:p>
            <a:r>
              <a:rPr lang="fr-SN" dirty="0"/>
              <a:t>Google Fonts</a:t>
            </a:r>
          </a:p>
          <a:p>
            <a:r>
              <a:rPr lang="fr-SN" dirty="0"/>
              <a:t>Bootstrap </a:t>
            </a:r>
            <a:r>
              <a:rPr lang="fr-SN" dirty="0" err="1"/>
              <a:t>Icons</a:t>
            </a:r>
            <a:endParaRPr lang="fr-SN" dirty="0"/>
          </a:p>
          <a:p>
            <a:r>
              <a:rPr lang="fr-SN" dirty="0"/>
              <a:t>GitHub Docs</a:t>
            </a:r>
          </a:p>
          <a:p>
            <a:r>
              <a:rPr lang="fr-SN" dirty="0"/>
              <a:t>W3C </a:t>
            </a:r>
            <a:r>
              <a:rPr lang="fr-SN" dirty="0" err="1"/>
              <a:t>Validator</a:t>
            </a:r>
            <a:endParaRPr lang="fr-SN" dirty="0"/>
          </a:p>
          <a:p>
            <a:r>
              <a:rPr lang="fr-SN" dirty="0" err="1"/>
              <a:t>Unsplash</a:t>
            </a:r>
            <a:r>
              <a:rPr lang="fr-SN" dirty="0"/>
              <a:t> et </a:t>
            </a:r>
            <a:r>
              <a:rPr lang="fr-SN" dirty="0" err="1"/>
              <a:t>Pexels</a:t>
            </a:r>
            <a:r>
              <a:rPr lang="fr-S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8525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446A84-EAC5-22AC-E5C7-8353A149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9605"/>
            <a:ext cx="9603275" cy="1049235"/>
          </a:xfrm>
        </p:spPr>
        <p:txBody>
          <a:bodyPr/>
          <a:lstStyle/>
          <a:p>
            <a:r>
              <a:rPr lang="fr-FR" dirty="0" err="1"/>
              <a:t>Demonstration</a:t>
            </a:r>
            <a:r>
              <a:rPr lang="fr-FR" dirty="0"/>
              <a:t> en live</a:t>
            </a:r>
            <a:endParaRPr lang="fr-SN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8547438-8B87-060D-BE5D-0CB79163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69A0D1A-B1A6-4A33-B3AE-513EF3B4A7E7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3828893-7E53-3ECA-AF5F-A8F9DBD0CE0B}"/>
              </a:ext>
            </a:extLst>
          </p:cNvPr>
          <p:cNvSpPr txBox="1"/>
          <p:nvPr/>
        </p:nvSpPr>
        <p:spPr>
          <a:xfrm>
            <a:off x="1451579" y="2148840"/>
            <a:ext cx="81250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Presentation du site </a:t>
            </a:r>
            <a:r>
              <a:rPr lang="en-US" sz="1800" dirty="0" err="1"/>
              <a:t>en</a:t>
            </a:r>
            <a:r>
              <a:rPr lang="en-US" sz="1800" dirty="0"/>
              <a:t> direct : </a:t>
            </a:r>
          </a:p>
          <a:p>
            <a:r>
              <a:rPr lang="en-US" sz="1800" dirty="0"/>
              <a:t>Navigation entre les pages</a:t>
            </a:r>
          </a:p>
          <a:p>
            <a:r>
              <a:rPr lang="en-US" sz="1800" dirty="0"/>
              <a:t>Dark mode</a:t>
            </a:r>
          </a:p>
          <a:p>
            <a:r>
              <a:rPr lang="en-US" sz="1800" dirty="0" err="1"/>
              <a:t>Filtrage</a:t>
            </a:r>
            <a:r>
              <a:rPr lang="en-US" sz="1800" dirty="0"/>
              <a:t> des freelances</a:t>
            </a:r>
          </a:p>
          <a:p>
            <a:r>
              <a:rPr lang="en-US" sz="1800" dirty="0" err="1"/>
              <a:t>Formulaire</a:t>
            </a:r>
            <a:r>
              <a:rPr lang="en-US" sz="1800" dirty="0"/>
              <a:t> de contact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593273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6581E9-F3E3-5418-AA43-9CAA3951C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124559"/>
            <a:ext cx="9603275" cy="1049235"/>
          </a:xfrm>
        </p:spPr>
        <p:txBody>
          <a:bodyPr/>
          <a:lstStyle/>
          <a:p>
            <a:r>
              <a:rPr lang="fr-SN" dirty="0"/>
              <a:t>Conclusion</a:t>
            </a:r>
            <a:br>
              <a:rPr lang="fr-SN" dirty="0"/>
            </a:br>
            <a:endParaRPr lang="fr-SN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5908DF3-E80B-6F98-2B28-C8069A236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AEC910-4AAA-42A1-A49C-7DDC64BC53C6}" type="datetime1">
              <a:rPr lang="fr-FR" smtClean="0"/>
              <a:t>28/06/2026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12A441B-47A2-D3D7-13B4-75C425095A69}"/>
              </a:ext>
            </a:extLst>
          </p:cNvPr>
          <p:cNvSpPr txBox="1"/>
          <p:nvPr/>
        </p:nvSpPr>
        <p:spPr>
          <a:xfrm>
            <a:off x="1344136" y="2228671"/>
            <a:ext cx="85591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Ce projet </a:t>
            </a:r>
            <a:r>
              <a:rPr lang="fr-FR" dirty="0" err="1"/>
              <a:t>AfriTalent</a:t>
            </a:r>
            <a:r>
              <a:rPr lang="fr-FR" dirty="0"/>
              <a:t> m'a permis d'acquérir une première vraie expérience pratique avec </a:t>
            </a:r>
            <a:r>
              <a:rPr lang="fr-FR" dirty="0" err="1"/>
              <a:t>localStorage</a:t>
            </a:r>
            <a:r>
              <a:rPr lang="fr-FR" dirty="0"/>
              <a:t> pour la persistance de données côté client, un mécanisme essentiel pour créer des interfaces qui se souviennent des préférences de l'utilisateur.</a:t>
            </a:r>
          </a:p>
          <a:p>
            <a:r>
              <a:rPr lang="fr-FR" dirty="0"/>
              <a:t>Il m'a aussi montré la puissance de Bootstrap pour accélérer le développement : grâce à son système de grille et ses composants prêts à l'emploi (</a:t>
            </a:r>
            <a:r>
              <a:rPr lang="fr-FR" dirty="0" err="1"/>
              <a:t>navbar</a:t>
            </a:r>
            <a:r>
              <a:rPr lang="fr-FR" dirty="0"/>
              <a:t>, </a:t>
            </a:r>
            <a:r>
              <a:rPr lang="fr-FR" dirty="0" err="1"/>
              <a:t>cards</a:t>
            </a:r>
            <a:r>
              <a:rPr lang="fr-FR" dirty="0"/>
              <a:t>, </a:t>
            </a:r>
            <a:r>
              <a:rPr lang="fr-FR" dirty="0" err="1"/>
              <a:t>carousel</a:t>
            </a:r>
            <a:r>
              <a:rPr lang="fr-FR" dirty="0"/>
              <a:t>, </a:t>
            </a:r>
            <a:r>
              <a:rPr lang="fr-FR" dirty="0" err="1"/>
              <a:t>accordion</a:t>
            </a:r>
            <a:r>
              <a:rPr lang="fr-FR" dirty="0"/>
              <a:t>), j'ai pu construire une interface responsive et cohérente beaucoup plus rapidement qu'en CSS pur.</a:t>
            </a:r>
          </a:p>
        </p:txBody>
      </p:sp>
    </p:spTree>
    <p:extLst>
      <p:ext uri="{BB962C8B-B14F-4D97-AF65-F5344CB8AC3E}">
        <p14:creationId xmlns:p14="http://schemas.microsoft.com/office/powerpoint/2010/main" val="198682692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569</TotalTime>
  <Words>733</Words>
  <Application>Microsoft Office PowerPoint</Application>
  <PresentationFormat>Grand écran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Arial Unicode MS</vt:lpstr>
      <vt:lpstr>Calibri</vt:lpstr>
      <vt:lpstr>Gill Sans MT</vt:lpstr>
      <vt:lpstr>Galerie</vt:lpstr>
      <vt:lpstr>AfriTalent</vt:lpstr>
      <vt:lpstr>SOMMAIRE</vt:lpstr>
      <vt:lpstr> Présentation du projet</vt:lpstr>
      <vt:lpstr>Choix de design</vt:lpstr>
      <vt:lpstr>Architecture du projet</vt:lpstr>
      <vt:lpstr>Aperçu des pages </vt:lpstr>
      <vt:lpstr>Aperçu des pages </vt:lpstr>
      <vt:lpstr>Points techniques : Bootstrap  &amp; CSS avancé</vt:lpstr>
      <vt:lpstr>GitHub et déploiement</vt:lpstr>
      <vt:lpstr>Difficultés rencontrées et solutions</vt:lpstr>
      <vt:lpstr>Présentation PowerPoint</vt:lpstr>
      <vt:lpstr>Ressources utilisées</vt:lpstr>
      <vt:lpstr>Demonstration en live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BAMBA DIOUF</dc:creator>
  <cp:lastModifiedBy>BAMBA DIOUF</cp:lastModifiedBy>
  <cp:revision>14</cp:revision>
  <dcterms:created xsi:type="dcterms:W3CDTF">2026-05-24T09:52:01Z</dcterms:created>
  <dcterms:modified xsi:type="dcterms:W3CDTF">2026-06-28T19:27:34Z</dcterms:modified>
</cp:coreProperties>
</file>